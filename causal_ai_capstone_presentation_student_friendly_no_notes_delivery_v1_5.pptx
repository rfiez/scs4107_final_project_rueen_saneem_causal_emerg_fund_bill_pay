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 i="0">
                <a:solidFill>
                  <a:srgbClr val="B7DCD2"/>
                </a:solidFill>
                <a:latin typeface="Aptos"/>
              </a:rPr>
              <a:t>SCS 4107 FINAL CAUSAL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97864"/>
            <a:ext cx="6492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Emergency funds and
household bill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907792"/>
            <a:ext cx="6355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0" i="0">
                <a:solidFill>
                  <a:srgbClr val="D8E4E5"/>
                </a:solidFill>
                <a:latin typeface="Aptos"/>
              </a:rPr>
              <a:t>A module-by-module causal inference walkthrough using real SHED 2023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3675887"/>
            <a:ext cx="3310128" cy="292608"/>
          </a:xfrm>
          <a:prstGeom prst="roundRect">
            <a:avLst/>
          </a:prstGeom>
          <a:solidFill>
            <a:srgbClr val="2B6C73"/>
          </a:solidFill>
          <a:ln w="10160">
            <a:solidFill>
              <a:srgbClr val="2B6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94175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STUDENT GUIDE | REAL DATA | N = 11,400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603504"/>
            <a:ext cx="3931920" cy="5321808"/>
          </a:xfrm>
          <a:prstGeom prst="roundRect">
            <a:avLst/>
          </a:prstGeom>
          <a:solidFill>
            <a:srgbClr val="204F63"/>
          </a:solidFill>
          <a:ln w="10160">
            <a:solidFill>
              <a:srgbClr val="3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05156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54480"/>
            <a:ext cx="2971800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 Display"/>
              </a:rPr>
              <a:t>Would having a three-month emergency fund make people more likely to pay all household bills in full?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3584448"/>
            <a:ext cx="2788920" cy="17780"/>
          </a:xfrm>
          <a:prstGeom prst="rect">
            <a:avLst/>
          </a:prstGeom>
          <a:solidFill>
            <a:srgbClr val="79B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895344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 i="0">
                <a:solidFill>
                  <a:srgbClr val="B7DCD2"/>
                </a:solidFill>
                <a:latin typeface="Aptos"/>
              </a:rPr>
              <a:t>Estimated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206240"/>
            <a:ext cx="3017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FFD2C7"/>
                </a:solidFill>
                <a:latin typeface="Aptos Display"/>
              </a:rPr>
              <a:t>+13.2 percentage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800600"/>
            <a:ext cx="2880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D8E4E5"/>
                </a:solidFill>
                <a:latin typeface="Aptos"/>
              </a:rPr>
              <a:t>This is a causal estimate only under the assumptions we explain in the deck.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6428232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AFC0C9"/>
                </a:solidFill>
                <a:latin typeface="Aptos"/>
              </a:rPr>
              <a:t>Federal Reserve SHED 2023 public-use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COURSE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This presentation follows the capstone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module labels mirror the project assessment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1463039"/>
            <a:ext cx="91440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63039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00784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Question, data, and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7510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Define the study and inspect the real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298448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1463039"/>
            <a:ext cx="91440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1463039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700784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Causal modeling and DAG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97510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Draw the assumed causes before estimating.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298448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463039"/>
            <a:ext cx="91440" cy="694944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463039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C47B20"/>
                </a:solidFill>
                <a:latin typeface="Aptos"/>
              </a:rPr>
              <a:t>MODULE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700784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Empirical testing of the DAG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97510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Test predictions that the DAG makes.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633472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" y="2798064"/>
            <a:ext cx="91440" cy="694944"/>
          </a:xfrm>
          <a:prstGeom prst="rect">
            <a:avLst/>
          </a:prstGeom>
          <a:solidFill>
            <a:srgbClr val="2F7D5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279806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2F7D57"/>
                </a:solidFill>
                <a:latin typeface="Aptos"/>
              </a:rPr>
              <a:t>MODULES 5-6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035808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Deep learning and structural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310128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Decide if deep learning helps; state the causal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2633472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71416" y="2798064"/>
            <a:ext cx="91440" cy="694944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279806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D5534F"/>
                </a:solidFill>
                <a:latin typeface="Aptos"/>
              </a:rPr>
              <a:t>MODULE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3035808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Interventions and causal effects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0016" y="3310128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Separate what we observe from what we would change.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2633472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2798064"/>
            <a:ext cx="91440" cy="694944"/>
          </a:xfrm>
          <a:prstGeom prst="rect">
            <a:avLst/>
          </a:prstGeom>
          <a:solidFill>
            <a:srgbClr val="2F7D5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279806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2F7D57"/>
                </a:solidFill>
                <a:latin typeface="Aptos"/>
              </a:rPr>
              <a:t>MODULE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035808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Counterfactuals and parallel worlds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3310128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Ask what might happen under a different action.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50592" y="3968496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87752" y="4133087"/>
            <a:ext cx="91440" cy="694944"/>
          </a:xfrm>
          <a:prstGeom prst="rect">
            <a:avLst/>
          </a:prstGeom>
          <a:solidFill>
            <a:srgbClr val="17324D"/>
          </a:solidFill>
          <a:ln w="1016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4133087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17324D"/>
                </a:solidFill>
                <a:latin typeface="Aptos"/>
              </a:rPr>
              <a:t>MODULE 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4370832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Identification in Pearl's hierarchy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4645152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Explain why the causal answer can be estimated.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3968496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73368" y="4133087"/>
            <a:ext cx="91440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133087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4370832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Structured causal inference workflow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4645152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Connect question, assumptions, checks, answer, and limits.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532120"/>
            <a:ext cx="11045952" cy="585216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532120"/>
            <a:ext cx="73152" cy="585216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5660136"/>
            <a:ext cx="107350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Core message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5971031"/>
            <a:ext cx="10735056" cy="54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This is not a project that runs one library function. Each step is needed before the final number can be called an estimated causal effect under stated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 | PROJECT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Start with one precise causal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assessment reference requires a population, treatment, outcome, contrast, and estimand.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1106424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55648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900" b="1" i="0">
                <a:solidFill>
                  <a:srgbClr val="17324D"/>
                </a:solidFill>
                <a:latin typeface="Aptos"/>
              </a:rPr>
              <a:t>Among eligible U.S. adults represented by SHED 2023, what is the estimated effect of having a three-month emergency fund on paying all non-credit-card household bills in full?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2514600" cy="1536192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18104"/>
            <a:ext cx="2221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WHO?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29000"/>
            <a:ext cx="22219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Individual eligible SHED 2023 respondents in the support-retained analytic population.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2971800"/>
            <a:ext cx="2514600" cy="1536192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118104"/>
            <a:ext cx="2221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TREATMENT (EF1)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29000"/>
            <a:ext cx="22219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Has enough emergency savings to cover three months of expenses.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971800"/>
            <a:ext cx="2514600" cy="1536192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118104"/>
            <a:ext cx="2221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OUTCOME (EF5C)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29000"/>
            <a:ext cx="22219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Paid all non-credit-card household bills in full in the prior month.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2971800"/>
            <a:ext cx="1828800" cy="1536192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3118104"/>
            <a:ext cx="15361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C47B20"/>
                </a:solidFill>
                <a:latin typeface="Aptos"/>
              </a:rPr>
              <a:t>TARGET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429000"/>
            <a:ext cx="15361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Average difference: E[Y(1) - Y(0)], reported in percentage 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84064"/>
            <a:ext cx="10972800" cy="694944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084064"/>
            <a:ext cx="73152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212079"/>
            <a:ext cx="106619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What the intervention means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522975"/>
            <a:ext cx="106619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Conceptually give or ensure a three-month emergency reserve, then compare that setting with not having one. SHED did not run this experiment or evaluate a named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 | PROJECT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What data did we use, and what did we do with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All results in this deck come from the validated empirical SHED 2023 bundle.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2523744" cy="109728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572768"/>
            <a:ext cx="2267711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200" b="1" i="0">
                <a:solidFill>
                  <a:srgbClr val="0E7774"/>
                </a:solidFill>
                <a:latin typeface="Aptos Display"/>
              </a:rPr>
              <a:t>SHED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87244"/>
            <a:ext cx="2267711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Federal Reserve public-use survey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463040"/>
            <a:ext cx="2194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1572768"/>
            <a:ext cx="1938528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800" b="1" i="0">
                <a:solidFill>
                  <a:srgbClr val="17324D"/>
                </a:solidFill>
                <a:latin typeface="Aptos Display"/>
              </a:rPr>
              <a:t>11,400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187244"/>
            <a:ext cx="1938528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Raw survey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144" y="1463040"/>
            <a:ext cx="1920240" cy="1097280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59" y="1572768"/>
            <a:ext cx="1664208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600" b="1" i="0">
                <a:solidFill>
                  <a:srgbClr val="2F7D57"/>
                </a:solidFill>
                <a:latin typeface="Aptos Display"/>
              </a:rPr>
              <a:t>EF1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187244"/>
            <a:ext cx="1664208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Treatment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63040"/>
            <a:ext cx="1920240" cy="109728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6" y="1572768"/>
            <a:ext cx="1664208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600" b="1" i="0">
                <a:solidFill>
                  <a:srgbClr val="D5534F"/>
                </a:solidFill>
                <a:latin typeface="Aptos Display"/>
              </a:rPr>
              <a:t>EF5C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2187244"/>
            <a:ext cx="1664208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Outcome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3536" y="1463040"/>
            <a:ext cx="1627632" cy="1097280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1552" y="1572768"/>
            <a:ext cx="137160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400" b="1" i="0">
                <a:solidFill>
                  <a:srgbClr val="C47B20"/>
                </a:solidFill>
                <a:latin typeface="Aptos Display"/>
              </a:rPr>
              <a:t>11,400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2187244"/>
            <a:ext cx="1371600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Final analytic sample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063240"/>
            <a:ext cx="23042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20954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1. KEEP RAW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520440"/>
            <a:ext cx="201168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Read the supplied survey file without changing it.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063240" y="3602736"/>
            <a:ext cx="603504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49039" y="3063240"/>
            <a:ext cx="23042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5344" y="320954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2. 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5344" y="3520440"/>
            <a:ext cx="201168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Check IDs, ages, weights, required fields, and codebook mappings.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72200" y="3602736"/>
            <a:ext cx="603504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3063240"/>
            <a:ext cx="23042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4304" y="320954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3. RECODE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3520440"/>
            <a:ext cx="201168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Map EF1, EF5C, and seven pre-treatment background variables.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281160" y="3602736"/>
            <a:ext cx="603504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66960" y="3063240"/>
            <a:ext cx="166420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13264" y="3209544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C47B20"/>
                </a:solidFill>
                <a:latin typeface="Aptos"/>
              </a:rPr>
              <a:t>4. 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13264" y="3520440"/>
            <a:ext cx="137160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All 11,400 records passed the documented analytic checks.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01184"/>
            <a:ext cx="10991088" cy="676656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10424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50" b="1" i="0">
                <a:solidFill>
                  <a:srgbClr val="17202A"/>
                </a:solidFill>
                <a:latin typeface="Aptos"/>
              </a:rPr>
              <a:t>Data-quality note: six reported ages above 95 were mapped to the official 95+ top-code. BK1 is account ownership, so it is not used as the bill-payment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 |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What did the data look like before causal adjustment?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EDA describes the existing groups. It does not yet answer the causal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3200400" cy="3218688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65376"/>
            <a:ext cx="2615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D5534F"/>
                </a:solidFill>
                <a:latin typeface="Aptos"/>
              </a:rPr>
              <a:t>NO FUND (T =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22576"/>
            <a:ext cx="2615184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3100" b="1" i="0">
                <a:solidFill>
                  <a:srgbClr val="17324D"/>
                </a:solidFill>
                <a:latin typeface="Aptos Display"/>
              </a:rPr>
              <a:t>4,918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5292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respondents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0156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Observed full-bill-payment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30752"/>
            <a:ext cx="26151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 i="0">
                <a:solidFill>
                  <a:srgbClr val="D5534F"/>
                </a:solidFill>
                <a:latin typeface="Aptos Display"/>
              </a:rPr>
              <a:t>74.30%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2404872"/>
            <a:ext cx="3182112" cy="1517904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688336"/>
            <a:ext cx="2670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C47B20"/>
                </a:solidFill>
                <a:latin typeface="Aptos"/>
              </a:rPr>
              <a:t>RAW 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99232"/>
            <a:ext cx="2670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 i="0">
                <a:solidFill>
                  <a:srgbClr val="17324D"/>
                </a:solidFill>
                <a:latin typeface="Aptos Display"/>
              </a:rPr>
              <a:t>+21.0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56432"/>
            <a:ext cx="2670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This is association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536192"/>
            <a:ext cx="3200400" cy="321868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1865376"/>
            <a:ext cx="2615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0E7774"/>
                </a:solidFill>
                <a:latin typeface="Aptos"/>
              </a:rPr>
              <a:t>HAS FUND (T =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322576"/>
            <a:ext cx="2615184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3100" b="1" i="0">
                <a:solidFill>
                  <a:srgbClr val="17324D"/>
                </a:solidFill>
                <a:latin typeface="Aptos Display"/>
              </a:rPr>
              <a:t>6,482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85292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respondents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40156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Observed full-bill-payment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730752"/>
            <a:ext cx="26151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 i="0">
                <a:solidFill>
                  <a:srgbClr val="0E7774"/>
                </a:solidFill>
                <a:latin typeface="Aptos Display"/>
              </a:rPr>
              <a:t>95.34%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863072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257800"/>
            <a:ext cx="73152" cy="694944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385816"/>
            <a:ext cx="1055217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D5534F"/>
                </a:solidFill>
                <a:latin typeface="Aptos"/>
              </a:rPr>
              <a:t>What EDA taught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696712"/>
            <a:ext cx="105521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The groups were already different in age, income, education, employment, housing, marital status, and race/ethnicity. Those background differences could explain part of the raw gap, so we need a DAG and an adjustment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 | CONDITIONAL PROBABILITY AND CAUSAL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Use a simple causal graph to tell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A DAG is an assumption map, not a chart drawn from correlations.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21408"/>
            <a:ext cx="2880360" cy="1609344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67712"/>
            <a:ext cx="2587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BACKGROUND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2587752" cy="101498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Income, age, education, employment, housing, marital status, and race/ethnicity.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30752" y="2779776"/>
            <a:ext cx="768096" cy="292608"/>
          </a:xfrm>
          <a:prstGeom prst="rightArrow">
            <a:avLst/>
          </a:prstGeom>
          <a:solidFill>
            <a:srgbClr val="2F7D57"/>
          </a:solidFill>
          <a:ln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2121408"/>
            <a:ext cx="2395728" cy="1609344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TREATMENT 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578608"/>
            <a:ext cx="2103120" cy="101498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Has a three-month emergency fund.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42048" y="2779776"/>
            <a:ext cx="768096" cy="292608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2121408"/>
            <a:ext cx="2880360" cy="1609344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267712"/>
            <a:ext cx="2587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OUTCOME (Y)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578608"/>
            <a:ext cx="2587752" cy="101498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Paid all non-credit-card household bills in full.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" y="4443984"/>
            <a:ext cx="9710928" cy="2794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26864"/>
            <a:ext cx="9646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2F7D57"/>
                </a:solidFill>
                <a:latin typeface="Aptos"/>
              </a:rPr>
              <a:t>Background factors can also affect bill payment. This is why two existing groups may not be directly comparable.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85232"/>
            <a:ext cx="10972800" cy="658368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85232"/>
            <a:ext cx="73152" cy="658368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413248"/>
            <a:ext cx="106619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Important unmeasured threat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724144"/>
            <a:ext cx="10661904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Financial shocks may affect both emergency savings and bill payment. Because SHED does not measure that node, the DAG leaves this path open and the final conclusion stays qualified.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 | CAUSAL MODELING AND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D-separation: make the comparison fairer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This is the rule that turns the causal graph into an adjustment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54480"/>
            <a:ext cx="10698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Plain-English meaning: d-separation asks whether a non-causal route between T and Y is closed after we account for the shared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87168"/>
            <a:ext cx="2331720" cy="1280160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33472"/>
            <a:ext cx="2039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2039112" cy="6857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 shared background factor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55264" y="2971800"/>
            <a:ext cx="768096" cy="274320"/>
          </a:xfrm>
          <a:prstGeom prst="rightArrow">
            <a:avLst/>
          </a:prstGeom>
          <a:solidFill>
            <a:srgbClr val="2F7D57"/>
          </a:solidFill>
          <a:ln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87952" y="2487168"/>
            <a:ext cx="2331720" cy="128016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633472"/>
            <a:ext cx="2039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FUND (T)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944368"/>
            <a:ext cx="2039112" cy="6857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Emergency savings status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93408" y="2971800"/>
            <a:ext cx="768096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5" y="2487168"/>
            <a:ext cx="2331720" cy="128016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633472"/>
            <a:ext cx="2039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BILLS (Y)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44368"/>
            <a:ext cx="2039112" cy="6857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Full bill payment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407408"/>
            <a:ext cx="101498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9555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2F7D57"/>
                </a:solidFill>
                <a:latin typeface="Aptos"/>
              </a:rPr>
              <a:t>Condition on income: compare people within the same income category before comparing fund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504688"/>
            <a:ext cx="10771632" cy="56692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5504688"/>
            <a:ext cx="73152" cy="566928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32703"/>
            <a:ext cx="1046073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What gets 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943600"/>
            <a:ext cx="10460736" cy="36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The route Income -&gt; Fund and Income -&gt; Bills can create a misleading raw relationship. Conditioning on income closes that measured back-door route. We repeat this logic for each measured common cause.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 | CAUSAL MODELING AND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Apply d-separation to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DAG determines which variables are adjusted for and which are left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980944" cy="1554480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20824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1. MEASURED COMMON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31720"/>
            <a:ext cx="2688336" cy="9601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Income, education, employment, age, marital status, housing, and race/ethnicity.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03904" y="2487168"/>
            <a:ext cx="749808" cy="274320"/>
          </a:xfrm>
          <a:prstGeom prst="rightArrow">
            <a:avLst/>
          </a:prstGeom>
          <a:solidFill>
            <a:srgbClr val="2F7D57"/>
          </a:solidFill>
          <a:ln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36592" y="1874519"/>
            <a:ext cx="2743200" cy="155448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020824"/>
            <a:ext cx="24505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2. ADJUST FOR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331720"/>
            <a:ext cx="2450592" cy="9601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Make the observed groups more alike on these pre-treatment factors.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62672" y="2487168"/>
            <a:ext cx="749808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1874519"/>
            <a:ext cx="2907792" cy="155448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1664" y="2020824"/>
            <a:ext cx="26151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3. ESTIMATE T -&gt;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331720"/>
            <a:ext cx="2615184" cy="9601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Compare the treatment worlds after blocking measured back-door routes.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96512"/>
            <a:ext cx="351129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315968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D5534F"/>
                </a:solidFill>
                <a:latin typeface="Aptos"/>
              </a:rPr>
              <a:t>DO NOT ADJUST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17720"/>
            <a:ext cx="30175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Post-treatment financial stress is a mediator. Adjusting for it could remove part of the effect we want to estimate.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096512"/>
            <a:ext cx="351129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315968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D5534F"/>
                </a:solidFill>
                <a:latin typeface="Aptos"/>
              </a:rPr>
              <a:t>DO NOT ADJUST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617720"/>
            <a:ext cx="30175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Analytic inclusion can act like a collider. Conditioning on a collider can create a false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4096512"/>
            <a:ext cx="3438144" cy="1152144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315968"/>
            <a:ext cx="2944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C47B20"/>
                </a:solidFill>
                <a:latin typeface="Aptos"/>
              </a:rPr>
              <a:t>CANNOT ADJUST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617720"/>
            <a:ext cx="294436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Financial shock is unmeasured. We disclose this threat and test sensitivity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4 | EMPIRICAL TESTING OF THE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Test what the DAG says should be unrelated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data can challenge a DAG; they cannot prove every arrow is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65836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mpirical_dag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75786"/>
            <a:ext cx="6547104" cy="36836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7" y="1371600"/>
            <a:ext cx="420624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600200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0E7774"/>
                </a:solidFill>
                <a:latin typeface="Aptos"/>
              </a:rPr>
              <a:t>NEW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37943"/>
            <a:ext cx="369417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Aptos"/>
              </a:rPr>
              <a:t>DAG implication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185416"/>
            <a:ext cx="3694175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A test of a relationship that the graph says should be absent or weak. We use it to criticize the model, not to prove causation.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2962656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D5534F"/>
                </a:solidFill>
                <a:latin typeface="Aptos"/>
              </a:rPr>
              <a:t>WHAT YOU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429000"/>
            <a:ext cx="3694175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Age and education did not clearly challenge the DAG (p = 0.054). Age with employment and age with housing did challenge it (both p &lt; .001).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407408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626864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C47B20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873752"/>
            <a:ext cx="3694175" cy="1179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Two challenges mean the graph is imperfect. That is a reason to be cautious about assumptions, not a reason to claim the data proved the DAG.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5-6 | DEEP LEARNING AND STRUCTURAL CAUSAL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Use the simplest model that answers the causal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Deep learning is optional: it must add causal value, not just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5-6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3456432" cy="448056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28529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0E7774"/>
                </a:solidFill>
                <a:latin typeface="Aptos"/>
              </a:rPr>
              <a:t>1. Deep learning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04288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Not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80360"/>
            <a:ext cx="276148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Why? The dataset is a modest-sized table with a small, named set of causal variables. A complex neural network would not solve the confounding problem and would be harder to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782312"/>
            <a:ext cx="27614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0E7774"/>
                </a:solidFill>
                <a:latin typeface="Aptos"/>
              </a:rPr>
              <a:t>Lesson: better prediction is not automatically better causal inference.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81328"/>
            <a:ext cx="3456432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2. Structural causal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04288"/>
            <a:ext cx="281635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0" i="0">
                <a:solidFill>
                  <a:srgbClr val="17202A"/>
                </a:solidFill>
                <a:latin typeface="Aptos"/>
              </a:rPr>
              <a:t>A structural causal model (SCM) says how variables are generated: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2999232"/>
            <a:ext cx="2724912" cy="566928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E3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3154680"/>
            <a:ext cx="2450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2F7D57"/>
                </a:solidFill>
                <a:latin typeface="Aptos"/>
              </a:rPr>
              <a:t>Background factors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730752"/>
            <a:ext cx="2724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0" i="0">
                <a:solidFill>
                  <a:srgbClr val="17202A"/>
                </a:solidFill>
                <a:latin typeface="Aptos"/>
              </a:rPr>
              <a:t>affect fund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123944"/>
            <a:ext cx="2724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0" i="0">
                <a:solidFill>
                  <a:srgbClr val="17202A"/>
                </a:solidFill>
                <a:latin typeface="Aptos"/>
              </a:rPr>
              <a:t>and bill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1888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The fund may also affect bill payment.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1481328"/>
            <a:ext cx="3456432" cy="4480560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1828800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C47B20"/>
                </a:solidFill>
                <a:latin typeface="Aptos"/>
              </a:rPr>
              <a:t>3. What we assume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359152"/>
            <a:ext cx="2761488" cy="22128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17202A"/>
                </a:solidFill>
                <a:latin typeface="Aptos"/>
              </a:defRPr>
            </a:pPr>
            <a:r>
              <a:t>- The model captures the important measured background factors.</a:t>
            </a:r>
          </a:p>
          <a:p>
            <a:pPr>
              <a:spcAft>
                <a:spcPts val="900"/>
              </a:spcAft>
              <a:defRPr sz="1450">
                <a:solidFill>
                  <a:srgbClr val="17202A"/>
                </a:solidFill>
                <a:latin typeface="Aptos"/>
              </a:defRPr>
            </a:pPr>
            <a:r>
              <a:t>- People's reported treatment and outcome are measured correctly enough.</a:t>
            </a:r>
          </a:p>
          <a:p>
            <a:pPr>
              <a:spcAft>
                <a:spcPts val="900"/>
              </a:spcAft>
              <a:defRPr sz="1450">
                <a:solidFill>
                  <a:srgbClr val="17202A"/>
                </a:solidFill>
                <a:latin typeface="Aptos"/>
              </a:defRPr>
            </a:pPr>
            <a:r>
              <a:t>- The model is useful for the counterfactual question, but it is not the true world proven by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5084064"/>
            <a:ext cx="27614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 i="0">
                <a:solidFill>
                  <a:srgbClr val="C47B20"/>
                </a:solidFill>
                <a:latin typeface="Aptos"/>
              </a:rPr>
              <a:t>Lesson: causal structure and statistical prediction are different jobs.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7 | INTERVENTIONS AND CAUSAL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Intervention: compare two settings of the same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This is different from comparing the two existing groups in the survey.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4315968" cy="416052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20240"/>
            <a:ext cx="3657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WHAT WE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8600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 Display"/>
              </a:rPr>
              <a:t>Two existing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816352"/>
            <a:ext cx="365760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0" i="0">
                <a:solidFill>
                  <a:srgbClr val="17202A"/>
                </a:solidFill>
                <a:latin typeface="Aptos"/>
              </a:rPr>
              <a:t>No fund: 74.30% paid all bills
Has fund: 95.34% paid all bills
Raw gap: +21.0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25696"/>
            <a:ext cx="36576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These respondents can differ in income, age, and other background factors.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66944" y="3291840"/>
            <a:ext cx="1078992" cy="347472"/>
          </a:xfrm>
          <a:prstGeom prst="rightArrow">
            <a:avLst/>
          </a:prstGeom>
          <a:solidFill>
            <a:srgbClr val="C47B20"/>
          </a:solidFill>
          <a:ln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3794760"/>
            <a:ext cx="14813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C47B20"/>
                </a:solidFill>
                <a:latin typeface="Aptos"/>
              </a:rPr>
              <a:t>change the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1627632"/>
            <a:ext cx="4864608" cy="416052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920240"/>
            <a:ext cx="4206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WHAT AN INTERVENTION 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28600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 Display"/>
              </a:rPr>
              <a:t>Set fund status in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816352"/>
            <a:ext cx="420624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0" i="0">
                <a:solidFill>
                  <a:srgbClr val="17202A"/>
                </a:solidFill>
                <a:latin typeface="Aptos"/>
              </a:rPr>
              <a:t>do(T = 0): 79.9% expected full payment
do(T = 1): 93.0% expected full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425696"/>
            <a:ext cx="4206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The model first accounts for measured common causes, then compares these two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980176"/>
            <a:ext cx="10863072" cy="420624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980176"/>
            <a:ext cx="73152" cy="420624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6108192"/>
            <a:ext cx="1055217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Simple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6419088"/>
            <a:ext cx="10552176" cy="-109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An intervention is a 'what if we set this treatment?' question. It does not mean SHED randomized people or that the result is guaranteed for every individual.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7 | INTERVENTIONS AND CAUSAL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Estimate the effect after making the groups more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final number comes from the stated identification strategy, not from a library call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65836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unadjusted_vs_adjusted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240692"/>
            <a:ext cx="6547104" cy="31538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7" y="1371600"/>
            <a:ext cx="420624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600200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0E7774"/>
                </a:solidFill>
                <a:latin typeface="Aptos"/>
              </a:rPr>
              <a:t>NEW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37943"/>
            <a:ext cx="369417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Aptos"/>
              </a:rPr>
              <a:t>AIPW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185416"/>
            <a:ext cx="3694175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Augmented Inverse Probability Weighting. It combines two ideas: estimate the chance of having a fund from background factors, and model bill payment from the same information. Together, this makes the comparison fairer under the assumptions.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2962656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D5534F"/>
                </a:solidFill>
                <a:latin typeface="Aptos"/>
              </a:rPr>
              <a:t>WHAT YOU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429000"/>
            <a:ext cx="3694175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The raw difference is 21.0 points. The primary AIPW estimate is 13.2 points, with a 95% range of 11.9 to 14.5. The alternative IPW result is 12.9 points.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407408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626864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C47B20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873752"/>
            <a:ext cx="3694175" cy="1179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Both adjusted methods give a similar positive estimate. The plot's horizontal bars show the range of uncertainty, not a guarantee.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7 | INTERVENTIONS AND CAUSAL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Check whether the adjusted groups can be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These diagnostics support the analysis; they do not prove that no hidden factor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30175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propensity_score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449291"/>
            <a:ext cx="2980944" cy="16850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49039" y="1371600"/>
            <a:ext cx="30175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_covariate_balance_lov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7" y="2431874"/>
            <a:ext cx="2980944" cy="171993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059168" y="1371600"/>
            <a:ext cx="457200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1700784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0E7774"/>
                </a:solidFill>
                <a:latin typeface="Aptos"/>
              </a:rPr>
              <a:t>Figure 07: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2029968"/>
            <a:ext cx="3886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The blue and red bars overlap across much of the chart. This means we can find reasonably similar people in both groups. All respondents stayed within the chosen support bounds.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2926080"/>
            <a:ext cx="3886200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3163824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D5534F"/>
                </a:solidFill>
                <a:latin typeface="Aptos"/>
              </a:rPr>
              <a:t>Figure 08: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3493008"/>
            <a:ext cx="3886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Red squares show big differences before adjustment. Blue circles are much closer to zero after adjustment. The largest difference fell from 0.753 to 0.032.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4626864"/>
            <a:ext cx="3886200" cy="950976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5" y="4626864"/>
            <a:ext cx="73152" cy="950976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4754879"/>
            <a:ext cx="35753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Why both figures 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5065775"/>
            <a:ext cx="35753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Overlap says the two groups contain comparable types of people. Balance says the measured background factors are more alike after adjustment. Neither chart can test an unmeasured shock.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8 | COUNTERFACTUALS AND PARALLEL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Counterfactual: keep the people fixed, change the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This asks about a factual subgroup in a modeled alternate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64208"/>
            <a:ext cx="3968496" cy="4041648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1975104"/>
            <a:ext cx="3383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1. FACTUAL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359152"/>
            <a:ext cx="3383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 Display"/>
              </a:rPr>
              <a:t>What we actually saw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999232"/>
            <a:ext cx="33832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0" i="0">
                <a:solidFill>
                  <a:srgbClr val="17202A"/>
                </a:solidFill>
                <a:latin typeface="Aptos"/>
              </a:rPr>
              <a:t>A subgroup with no emergency fund and no full bill payment
N = 1,264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443984"/>
            <a:ext cx="3383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We cannot observe this same subgroup both with and without a fund.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10912" y="3337560"/>
            <a:ext cx="1078992" cy="347472"/>
          </a:xfrm>
          <a:prstGeom prst="rightArrow">
            <a:avLst/>
          </a:prstGeom>
          <a:solidFill>
            <a:srgbClr val="C47B20"/>
          </a:solidFill>
          <a:ln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3822191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C47B20"/>
                </a:solidFill>
                <a:latin typeface="Aptos"/>
              </a:rPr>
              <a:t>model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1664208"/>
            <a:ext cx="5047488" cy="404164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975104"/>
            <a:ext cx="442569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2. COUNTERFACTUAL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359152"/>
            <a:ext cx="44256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100" b="1" i="0">
                <a:solidFill>
                  <a:srgbClr val="17324D"/>
                </a:solidFill>
                <a:latin typeface="Aptos Display"/>
              </a:rPr>
              <a:t>What if this same subgroup had a fund?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054096"/>
            <a:ext cx="44256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0E7774"/>
                </a:solidFill>
                <a:latin typeface="Cascadia Mono"/>
              </a:rPr>
              <a:t>E[Y(1) | T = 0, Y = 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749039"/>
            <a:ext cx="4425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Model-estimated full-bill-payment rate: 88.3%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590288"/>
            <a:ext cx="44256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This is a group-level result under the SCM assumptions, not an individual promise or financial advice.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943600"/>
            <a:ext cx="10680192" cy="438912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5943600"/>
            <a:ext cx="73152" cy="438912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6071616"/>
            <a:ext cx="103692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The key difference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6382512"/>
            <a:ext cx="10369296" cy="-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An intervention asks about everyone under a setting. A counterfactual starts with factual evidence about a particular group, then asks about that same group under the conflicting setting.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9 | IDENTIFICATION WITHIN PEARL'S CAUSAL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Place each question on the causal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Identification is the bridge from an observed dataset to an interpreted causal quantity.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508760"/>
            <a:ext cx="3429000" cy="4407408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1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D5534F"/>
                </a:solidFill>
                <a:latin typeface="Aptos"/>
              </a:rPr>
              <a:t>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 Display"/>
              </a:rPr>
              <a:t>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26700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Question: Do people with a fund pay bills more often?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75887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D5534F"/>
                </a:solidFill>
                <a:latin typeface="Aptos"/>
              </a:rPr>
              <a:t>Observed gap: +21.0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26700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This can mix cause with background differences.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508760"/>
            <a:ext cx="3429000" cy="44074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1856231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0E7774"/>
                </a:solidFill>
                <a:latin typeface="Aptos"/>
              </a:rPr>
              <a:t>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212848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 Display"/>
              </a:rPr>
              <a:t>Intervention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61488"/>
            <a:ext cx="26700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Question: What if we set fund status to yes versus no?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675887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E7774"/>
                </a:solidFill>
                <a:latin typeface="Aptos"/>
              </a:rPr>
              <a:t>Estimated effect: +13.2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4187952"/>
            <a:ext cx="26700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This requires the DAG-based adjustment assumptions.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08760"/>
            <a:ext cx="3429000" cy="4407408"/>
          </a:xfrm>
          <a:prstGeom prst="roundRect">
            <a:avLst/>
          </a:prstGeom>
          <a:solidFill>
            <a:srgbClr val="E8E0F7"/>
          </a:solidFill>
          <a:ln w="10160">
            <a:solidFill>
              <a:srgbClr val="E8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1856231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6B55A5"/>
                </a:solidFill>
                <a:latin typeface="Aptos"/>
              </a:rPr>
              <a:t>Level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21284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 Display"/>
              </a:rPr>
              <a:t>Counterfactual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761488"/>
            <a:ext cx="26700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Question: For this factual subgroup, what if it had a fund?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675887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6B55A5"/>
                </a:solidFill>
                <a:latin typeface="Aptos"/>
              </a:rPr>
              <a:t>Estimated subgroup rate: 88.3%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87952"/>
            <a:ext cx="26700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This additionally relies on the structural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6099048"/>
            <a:ext cx="10945368" cy="393192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6199632"/>
            <a:ext cx="10378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0E7774"/>
                </a:solidFill>
                <a:latin typeface="Aptos"/>
              </a:rPr>
              <a:t>Identification strategy: Back-door adjustment uses the DAG to control for measured common causes before estimating the intervention contrast.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9 | IDENTIFICATION AND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Ask how strong a missing factor would need to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open FinancialShock path cannot be measured away, so we assess its possible influence.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61707C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65836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sensitivity_analysis_e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301457"/>
            <a:ext cx="6547104" cy="30323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7" y="1371600"/>
            <a:ext cx="420624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600200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0E7774"/>
                </a:solidFill>
                <a:latin typeface="Aptos"/>
              </a:rPr>
              <a:t>NEW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37943"/>
            <a:ext cx="369417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Aptos"/>
              </a:rPr>
              <a:t>E-value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185416"/>
            <a:ext cx="3694175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A sensitivity measure. It describes how strongly an unmeasured factor would need to relate to both the emergency fund and bill payment to fully explain away the estimated effect.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2962656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D5534F"/>
                </a:solidFill>
                <a:latin typeface="Aptos"/>
              </a:rPr>
              <a:t>WHAT YOU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429000"/>
            <a:ext cx="3694175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The blue point estimate is 1.60; the red lower-confidence-bound value is 1.56. The chart is about the potential power of an unseen factor, not evidence that one exists.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407408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626864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C47B20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873752"/>
            <a:ext cx="3694175" cy="1179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This keeps the unmeasured FinancialShock threat in the conclusion. Sensitivity analysis makes the claim more transparent, not certain.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B7DCD2"/>
                </a:solidFill>
                <a:latin typeface="Aptos"/>
              </a:rPr>
              <a:t>MODULE 10 | STRUCTURED CAUSAL INFERENCE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Trace the final result back through every causal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C7D5DD"/>
                </a:solidFill>
                <a:latin typeface="Aptos"/>
              </a:rPr>
              <a:t>A defensible conclusion keeps both the positive estimate and its limits in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b="0" i="0">
                <a:solidFill>
                  <a:srgbClr val="AFC0C9"/>
                </a:solidFill>
                <a:latin typeface="Aptos"/>
              </a:rPr>
              <a:t>Federal Reserve SHED 2023 public-use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AFC0C9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83464"/>
            <a:ext cx="278892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41664" y="301752"/>
            <a:ext cx="2679191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Emergency fund -&gt; bill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Name causes and threats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Challenge graph implications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Identify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Choose a justified adjustment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AIPW effect and uncertainty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651760"/>
            <a:ext cx="10881360" cy="20320"/>
          </a:xfrm>
          <a:prstGeom prst="rect">
            <a:avLst/>
          </a:prstGeom>
          <a:solidFill>
            <a:srgbClr val="79B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108960"/>
            <a:ext cx="5504688" cy="2331720"/>
          </a:xfrm>
          <a:prstGeom prst="roundRect">
            <a:avLst/>
          </a:prstGeom>
          <a:solidFill>
            <a:srgbClr val="204F63"/>
          </a:solidFill>
          <a:ln w="10160">
            <a:solidFill>
              <a:srgbClr val="3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56432"/>
            <a:ext cx="25603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B7DCD2"/>
                </a:solidFill>
                <a:latin typeface="Aptos"/>
              </a:rPr>
              <a:t>What we can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13632"/>
            <a:ext cx="487375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Under the stated causal assumptions, having a three-month emergency fund is estimated to increase full bill payment by about 13.2 percentage points in this SHED 2023 analytic population.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108960"/>
            <a:ext cx="5084064" cy="2331720"/>
          </a:xfrm>
          <a:prstGeom prst="roundRect">
            <a:avLst/>
          </a:prstGeom>
          <a:solidFill>
            <a:srgbClr val="4B4032"/>
          </a:solidFill>
          <a:ln w="10160">
            <a:solidFill>
              <a:srgbClr val="6A5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456432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F6D89E"/>
                </a:solidFill>
                <a:latin typeface="Aptos"/>
              </a:rPr>
              <a:t>What we cannot 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913632"/>
            <a:ext cx="4187952" cy="105156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- The cross-sectional survey proves the fund came first.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- Every individual will have the same benefit.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- Unmeasured financial shocks do not matter.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016752"/>
            <a:ext cx="107716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FFD2C7"/>
                </a:solidFill>
                <a:latin typeface="Aptos"/>
              </a:rPr>
              <a:t>Prepared defense: explain the DAG, the adjustment set, the figure tests, the estimator, the counterfactual, and the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Fund and Household Bill Payment: Student-Friendly Delivery</dc:title>
  <dc:subject>No-notes SHED 2023 causal inference presentation for delivery</dc:subject>
  <dc:creator>SCS 4107 Final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